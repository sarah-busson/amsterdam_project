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7" r:id="rId9"/>
    <p:sldId id="268" r:id="rId10"/>
    <p:sldId id="269" r:id="rId11"/>
    <p:sldId id="262" r:id="rId12"/>
    <p:sldId id="265" r:id="rId13"/>
    <p:sldId id="264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3" d="100"/>
          <a:sy n="63" d="100"/>
        </p:scale>
        <p:origin x="7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GB" dirty="0"/>
              <a:t>Total</a:t>
            </a:r>
            <a:r>
              <a:rPr lang="en-GB" baseline="0" dirty="0"/>
              <a:t> CO2 emissions [tons] in NL</a:t>
            </a:r>
            <a:endParaRPr lang="en-GB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'[Chart in Microsoft PowerPoint]Sheet1'!$A$2:$A$10</c:f>
              <c:numCache>
                <c:formatCode>General</c:formatCode>
                <c:ptCount val="9"/>
                <c:pt idx="0">
                  <c:v>1990</c:v>
                </c:pt>
                <c:pt idx="1">
                  <c:v>1995</c:v>
                </c:pt>
                <c:pt idx="2">
                  <c:v>2000</c:v>
                </c:pt>
                <c:pt idx="3">
                  <c:v>2005</c:v>
                </c:pt>
                <c:pt idx="4">
                  <c:v>2010</c:v>
                </c:pt>
                <c:pt idx="5">
                  <c:v>2015</c:v>
                </c:pt>
                <c:pt idx="6">
                  <c:v>2016</c:v>
                </c:pt>
                <c:pt idx="7">
                  <c:v>2017</c:v>
                </c:pt>
                <c:pt idx="8">
                  <c:v>2018</c:v>
                </c:pt>
              </c:numCache>
            </c:numRef>
          </c:xVal>
          <c:yVal>
            <c:numRef>
              <c:f>'[Chart in Microsoft PowerPoint]Sheet1'!$B$2:$B$10</c:f>
              <c:numCache>
                <c:formatCode>General</c:formatCode>
                <c:ptCount val="9"/>
                <c:pt idx="0">
                  <c:v>169770964</c:v>
                </c:pt>
                <c:pt idx="1">
                  <c:v>180426624</c:v>
                </c:pt>
                <c:pt idx="2">
                  <c:v>180371154</c:v>
                </c:pt>
                <c:pt idx="3">
                  <c:v>189016142</c:v>
                </c:pt>
                <c:pt idx="4">
                  <c:v>197101982</c:v>
                </c:pt>
                <c:pt idx="5">
                  <c:v>184948641</c:v>
                </c:pt>
                <c:pt idx="6">
                  <c:v>186703366</c:v>
                </c:pt>
                <c:pt idx="7">
                  <c:v>183945599</c:v>
                </c:pt>
                <c:pt idx="8">
                  <c:v>179269145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A2D-40AD-94FE-F1B3E05A27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8069904"/>
        <c:axId val="127768096"/>
      </c:scatterChart>
      <c:valAx>
        <c:axId val="128069904"/>
        <c:scaling>
          <c:orientation val="minMax"/>
          <c:min val="199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7768096"/>
        <c:crosses val="autoZero"/>
        <c:crossBetween val="midCat"/>
      </c:valAx>
      <c:valAx>
        <c:axId val="1277680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80699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43656249999999996"/>
          <c:y val="0.4096644218058633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5637130905511812"/>
          <c:y val="0.13008295318390806"/>
          <c:w val="0.44194488188976377"/>
          <c:h val="0.5974385568314797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2018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0"/>
            <c:bubble3D val="0"/>
            <c:spPr>
              <a:solidFill>
                <a:schemeClr val="accent5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1"/>
            <c:bubble3D val="0"/>
            <c:spPr>
              <a:solidFill>
                <a:schemeClr val="accent6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Sheet1!$A$2:$A$13</c:f>
              <c:strCache>
                <c:ptCount val="12"/>
                <c:pt idx="0">
                  <c:v>Drinking Water Supply</c:v>
                </c:pt>
                <c:pt idx="1">
                  <c:v>Consumers emissions</c:v>
                </c:pt>
                <c:pt idx="2">
                  <c:v>Trades, Services, Government</c:v>
                </c:pt>
                <c:pt idx="3">
                  <c:v>WWTP</c:v>
                </c:pt>
                <c:pt idx="4">
                  <c:v>Traffic, Transport</c:v>
                </c:pt>
                <c:pt idx="5">
                  <c:v>Waste Disposal</c:v>
                </c:pt>
                <c:pt idx="6">
                  <c:v>Construction</c:v>
                </c:pt>
                <c:pt idx="7">
                  <c:v>Chemical Industry</c:v>
                </c:pt>
                <c:pt idx="8">
                  <c:v>Energy Sector</c:v>
                </c:pt>
                <c:pt idx="9">
                  <c:v>Other Industry</c:v>
                </c:pt>
                <c:pt idx="10">
                  <c:v>Refineries</c:v>
                </c:pt>
                <c:pt idx="11">
                  <c:v>Agriculture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6986</c:v>
                </c:pt>
                <c:pt idx="1">
                  <c:v>18480105</c:v>
                </c:pt>
                <c:pt idx="2">
                  <c:v>7565767</c:v>
                </c:pt>
                <c:pt idx="3">
                  <c:v>821668</c:v>
                </c:pt>
                <c:pt idx="4">
                  <c:v>41334538</c:v>
                </c:pt>
                <c:pt idx="5">
                  <c:v>9708536</c:v>
                </c:pt>
                <c:pt idx="6">
                  <c:v>675665</c:v>
                </c:pt>
                <c:pt idx="7">
                  <c:v>18708897</c:v>
                </c:pt>
                <c:pt idx="8">
                  <c:v>47330428</c:v>
                </c:pt>
                <c:pt idx="9">
                  <c:v>15605856</c:v>
                </c:pt>
                <c:pt idx="10">
                  <c:v>10665872</c:v>
                </c:pt>
                <c:pt idx="11">
                  <c:v>8364826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03B-475A-9AF5-1FCC10600E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8.6999138779527557E-2"/>
          <c:y val="0.79843935787159459"/>
          <c:w val="0.82600172244094483"/>
          <c:h val="0.2015606421284053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1990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Sheet1!$A$2:$A$3</c:f>
              <c:strCache>
                <c:ptCount val="2"/>
                <c:pt idx="0">
                  <c:v>Primary</c:v>
                </c:pt>
                <c:pt idx="1">
                  <c:v>Renewable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6.0952500000000001</c:v>
                </c:pt>
                <c:pt idx="1">
                  <c:v>1.4749999999999999E-2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F0-42C5-B103-83EB8C377C3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2019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777-48C2-9C2B-30DAC0D48A8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777-48C2-9C2B-30DAC0D48A8A}"/>
              </c:ext>
            </c:extLst>
          </c:dPt>
          <c:cat>
            <c:strRef>
              <c:f>Sheet1!$A$2:$A$3</c:f>
              <c:strCache>
                <c:ptCount val="2"/>
                <c:pt idx="0">
                  <c:v>Primary</c:v>
                </c:pt>
                <c:pt idx="1">
                  <c:v>Renewable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5.3140000000000001</c:v>
                </c:pt>
                <c:pt idx="1">
                  <c:v>0.496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777-48C2-9C2B-30DAC0D48A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8632464816651837"/>
          <c:y val="0.89636157497321645"/>
          <c:w val="0.41529431332279521"/>
          <c:h val="6.730281297979849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874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107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94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52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6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793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136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46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50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2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625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8/14/2020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39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72" r:id="rId5"/>
    <p:sldLayoutId id="2147483666" r:id="rId6"/>
    <p:sldLayoutId id="2147483667" r:id="rId7"/>
    <p:sldLayoutId id="2147483668" r:id="rId8"/>
    <p:sldLayoutId id="2147483671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Fichier:Logo_COP_21_Paris_2015.p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F98EA-A038-426C-B927-5B33C455A6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883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8" y="-1534136"/>
            <a:ext cx="4592270" cy="12192001"/>
          </a:xfrm>
          <a:prstGeom prst="rect">
            <a:avLst/>
          </a:prstGeom>
          <a:gradFill>
            <a:gsLst>
              <a:gs pos="35000">
                <a:schemeClr val="bg1">
                  <a:alpha val="46000"/>
                </a:schemeClr>
              </a:gs>
              <a:gs pos="21000">
                <a:schemeClr val="bg1">
                  <a:alpha val="30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187FC-BB63-40C2-A98E-5D6DC86A5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278" y="2265729"/>
            <a:ext cx="6262947" cy="3107803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>
                <a:latin typeface="Century Gothic" panose="020B0502020202020204" pitchFamily="34" charset="0"/>
              </a:rPr>
              <a:t>THE </a:t>
            </a:r>
            <a:br>
              <a:rPr lang="en-GB" dirty="0">
                <a:latin typeface="Century Gothic" panose="020B0502020202020204" pitchFamily="34" charset="0"/>
              </a:rPr>
            </a:br>
            <a:r>
              <a:rPr lang="en-GB" dirty="0">
                <a:latin typeface="Century Gothic" panose="020B0502020202020204" pitchFamily="34" charset="0"/>
              </a:rPr>
              <a:t>AMSTERDAM </a:t>
            </a:r>
            <a:br>
              <a:rPr lang="en-GB" dirty="0">
                <a:latin typeface="Century Gothic" panose="020B0502020202020204" pitchFamily="34" charset="0"/>
              </a:rPr>
            </a:br>
            <a:r>
              <a:rPr lang="en-GB" dirty="0">
                <a:latin typeface="Century Gothic" panose="020B0502020202020204" pitchFamily="34" charset="0"/>
              </a:rPr>
              <a:t>PROJECT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1B0ACC-DC9B-4073-A779-3CBDB72BA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4553" y="5624945"/>
            <a:ext cx="9078562" cy="592975"/>
          </a:xfrm>
        </p:spPr>
        <p:txBody>
          <a:bodyPr anchor="ctr">
            <a:normAutofit/>
          </a:bodyPr>
          <a:lstStyle/>
          <a:p>
            <a:r>
              <a:rPr lang="en-GB" dirty="0"/>
              <a:t>Sarah Busson – DAFT 07/20 – Amsterdam </a:t>
            </a:r>
          </a:p>
        </p:txBody>
      </p:sp>
    </p:spTree>
    <p:extLst>
      <p:ext uri="{BB962C8B-B14F-4D97-AF65-F5344CB8AC3E}">
        <p14:creationId xmlns:p14="http://schemas.microsoft.com/office/powerpoint/2010/main" val="1668204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63500" sx="102000" sy="102000" algn="ctr" rotWithShape="0">
              <a:schemeClr val="bg1">
                <a:lumMod val="85000"/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9C45F024-2468-4D8A-9E11-BB2B1E0A3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29ECED-87A1-43DF-91EA-178DE93D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972312"/>
            <a:ext cx="9144000" cy="426008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500" dirty="0"/>
              <a:t>Are The Netherlands </a:t>
            </a:r>
            <a:br>
              <a:rPr lang="en-US" sz="4500" dirty="0"/>
            </a:br>
            <a:r>
              <a:rPr lang="en-US" sz="4500" dirty="0"/>
              <a:t>a model with the </a:t>
            </a:r>
            <a:br>
              <a:rPr lang="en-US" sz="4500" dirty="0"/>
            </a:br>
            <a:r>
              <a:rPr lang="en-US" sz="4500" dirty="0"/>
              <a:t>compliance to the </a:t>
            </a:r>
            <a:br>
              <a:rPr lang="en-US" sz="4500" dirty="0"/>
            </a:br>
            <a:r>
              <a:rPr lang="en-US" sz="4500" dirty="0"/>
              <a:t>2015 Paris Agreement 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9781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8F2158-3FCB-4952-BAD7-4F41A004BD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9920" y="1137920"/>
            <a:ext cx="7255256" cy="46685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What is the 2015 Paris Agreement 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What are the Dutch goals within the agreement ? Its commitment to Europe 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Workflow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Results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Insights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/>
              <a:t> Improvements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/>
              <a:t> Conclusion</a:t>
            </a:r>
            <a:endParaRPr lang="en-GB" dirty="0"/>
          </a:p>
        </p:txBody>
      </p:sp>
      <p:pic>
        <p:nvPicPr>
          <p:cNvPr id="11" name="Picture 10" descr="Ant's view of tulips and the sky">
            <a:extLst>
              <a:ext uri="{FF2B5EF4-FFF2-40B4-BE49-F238E27FC236}">
                <a16:creationId xmlns:a16="http://schemas.microsoft.com/office/drawing/2014/main" id="{A3BCAA80-C7C8-4716-AC00-FE37EE220EA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55" t="318" r="26586" b="-318"/>
          <a:stretch/>
        </p:blipFill>
        <p:spPr>
          <a:xfrm>
            <a:off x="834854" y="1426747"/>
            <a:ext cx="3147865" cy="400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04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F1E5-AA0E-4E02-A7F0-47F8A7EED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2015 Paris Agreement</a:t>
            </a:r>
            <a:endParaRPr lang="en-GB" dirty="0"/>
          </a:p>
        </p:txBody>
      </p:sp>
      <p:pic>
        <p:nvPicPr>
          <p:cNvPr id="5" name="Content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052C6335-C98A-432D-8720-54BBDEFC9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026080" y="2895664"/>
            <a:ext cx="1764288" cy="327653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801E4C-C0BC-4C83-ACF5-877B6D9BE074}"/>
              </a:ext>
            </a:extLst>
          </p:cNvPr>
          <p:cNvSpPr txBox="1"/>
          <p:nvPr/>
        </p:nvSpPr>
        <p:spPr>
          <a:xfrm>
            <a:off x="10202863" y="6858000"/>
            <a:ext cx="1989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>
                <a:hlinkClick r:id="rId3" tooltip="https://fr.wikipedia.org/wiki/Fichier:Logo_COP_21_Paris_2015.png"/>
              </a:rPr>
              <a:t>This Photo</a:t>
            </a:r>
            <a:r>
              <a:rPr lang="en-GB" sz="900"/>
              <a:t> by Unknown Author is licensed under </a:t>
            </a:r>
            <a:r>
              <a:rPr lang="en-GB" sz="900">
                <a:hlinkClick r:id="rId4" tooltip="https://creativecommons.org/licenses/by-sa/3.0/"/>
              </a:rPr>
              <a:t>CC BY-SA</a:t>
            </a:r>
            <a:endParaRPr lang="en-GB" sz="9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FDA55F4-FA0C-458B-AE60-9B5DFB47069B}"/>
              </a:ext>
            </a:extLst>
          </p:cNvPr>
          <p:cNvSpPr txBox="1">
            <a:spLocks/>
          </p:cNvSpPr>
          <p:nvPr/>
        </p:nvSpPr>
        <p:spPr>
          <a:xfrm>
            <a:off x="1115568" y="2478024"/>
            <a:ext cx="10168128" cy="369417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COP21 : UN Yearly Conference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sz="1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Paris edition was a major event : </a:t>
            </a:r>
          </a:p>
          <a:p>
            <a:pPr lvl="1"/>
            <a:r>
              <a:rPr lang="en-GB" dirty="0"/>
              <a:t>First one to legally bind countries towards their commitment</a:t>
            </a:r>
          </a:p>
          <a:p>
            <a:pPr lvl="1"/>
            <a:r>
              <a:rPr lang="en-GB" dirty="0"/>
              <a:t>Main polluting countries signed the agreement</a:t>
            </a:r>
          </a:p>
          <a:p>
            <a:pPr lvl="1"/>
            <a:r>
              <a:rPr lang="en-GB" dirty="0"/>
              <a:t>Ambitious but necessary goals</a:t>
            </a:r>
          </a:p>
          <a:p>
            <a:pPr lvl="1"/>
            <a:r>
              <a:rPr lang="en-GB" dirty="0"/>
              <a:t>Drastically lower the greenhouse gases emissions</a:t>
            </a:r>
          </a:p>
          <a:p>
            <a:pPr lvl="1"/>
            <a:r>
              <a:rPr lang="en-GB" dirty="0"/>
              <a:t>Maintain the temperature raise under 2°C by 2100</a:t>
            </a:r>
          </a:p>
        </p:txBody>
      </p:sp>
    </p:spTree>
    <p:extLst>
      <p:ext uri="{BB962C8B-B14F-4D97-AF65-F5344CB8AC3E}">
        <p14:creationId xmlns:p14="http://schemas.microsoft.com/office/powerpoint/2010/main" val="18887317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2006B-3626-4E9F-AC31-5F048CAE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Dutch &amp; European Commitments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39401-3AD1-4796-AEFA-CF0306CFC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 20-20-20 targets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 20% reduction of greenhouse gas effects emissions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 Raise to 20% the use of renewable energy</a:t>
            </a:r>
          </a:p>
          <a:p>
            <a:pPr lvl="2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14% as from the scale of NL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GB" dirty="0"/>
              <a:t> 20% improvement in Energy Efficiency</a:t>
            </a:r>
          </a:p>
        </p:txBody>
      </p:sp>
    </p:spTree>
    <p:extLst>
      <p:ext uri="{BB962C8B-B14F-4D97-AF65-F5344CB8AC3E}">
        <p14:creationId xmlns:p14="http://schemas.microsoft.com/office/powerpoint/2010/main" val="4008041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42FE-09D9-48F9-BA74-98850C04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760EB-5C38-423C-9CD6-6AB637F28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255520"/>
            <a:ext cx="10168128" cy="4053840"/>
          </a:xfrm>
        </p:spPr>
        <p:txBody>
          <a:bodyPr>
            <a:normAutofit/>
          </a:bodyPr>
          <a:lstStyle/>
          <a:p>
            <a:r>
              <a:rPr lang="en-GB" dirty="0"/>
              <a:t> Challenge #1:</a:t>
            </a:r>
          </a:p>
          <a:p>
            <a:pPr marL="0" indent="0">
              <a:buNone/>
            </a:pP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GB" sz="2400" dirty="0"/>
              <a:t>→ Find reliable, complete, understandable databases</a:t>
            </a:r>
          </a:p>
          <a:p>
            <a:pPr marL="0" indent="0">
              <a:buNone/>
            </a:pPr>
            <a:r>
              <a:rPr lang="en-GB" sz="2400" dirty="0"/>
              <a:t>	→ Reason why I focused on NL instead of Amsterdam</a:t>
            </a:r>
          </a:p>
          <a:p>
            <a:r>
              <a:rPr lang="en-GB" dirty="0"/>
              <a:t> Challenge #2:</a:t>
            </a:r>
          </a:p>
          <a:p>
            <a:pPr marL="0" indent="0">
              <a:buNone/>
            </a:pPr>
            <a:r>
              <a:rPr lang="en-GB" sz="2400" dirty="0"/>
              <a:t>	→ Data Calculations and Aggregation</a:t>
            </a:r>
          </a:p>
          <a:p>
            <a:r>
              <a:rPr lang="en-GB" sz="2400" dirty="0"/>
              <a:t> </a:t>
            </a:r>
            <a:r>
              <a:rPr lang="en-GB" dirty="0"/>
              <a:t>Challenge</a:t>
            </a:r>
            <a:r>
              <a:rPr lang="en-GB" sz="2400" dirty="0"/>
              <a:t> #3:</a:t>
            </a:r>
          </a:p>
          <a:p>
            <a:pPr marL="0" indent="0">
              <a:buNone/>
            </a:pPr>
            <a:r>
              <a:rPr lang="en-GB" sz="2400" dirty="0"/>
              <a:t>	 → Criticism on the results</a:t>
            </a:r>
          </a:p>
        </p:txBody>
      </p:sp>
    </p:spTree>
    <p:extLst>
      <p:ext uri="{BB962C8B-B14F-4D97-AF65-F5344CB8AC3E}">
        <p14:creationId xmlns:p14="http://schemas.microsoft.com/office/powerpoint/2010/main" val="2426077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A7F0A-2FAA-444C-B194-766BBA55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GB" sz="3600"/>
              <a:t>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DB6A-036F-4369-9501-4E1D8E82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dirty="0"/>
              <a:t># Reduction of greenhouse gases : </a:t>
            </a:r>
          </a:p>
          <a:p>
            <a:r>
              <a:rPr lang="en-GB" sz="1700" dirty="0"/>
              <a:t>Compared to 1990 : + 5.6%</a:t>
            </a:r>
          </a:p>
          <a:p>
            <a:r>
              <a:rPr lang="en-GB" sz="1700" dirty="0"/>
              <a:t>Compared to 2010 :  - 9%</a:t>
            </a:r>
          </a:p>
          <a:p>
            <a:r>
              <a:rPr lang="en-GB" sz="1700" dirty="0"/>
              <a:t>- 4.5% reduction of other gases in the last 3 years</a:t>
            </a:r>
          </a:p>
          <a:p>
            <a:endParaRPr lang="en-GB" sz="1700" dirty="0"/>
          </a:p>
          <a:p>
            <a:pPr marL="0" indent="0">
              <a:buNone/>
            </a:pPr>
            <a:r>
              <a:rPr lang="en-GB" sz="1800" dirty="0"/>
              <a:t>→ Goal not reached, but NL is on a decreasing path.</a:t>
            </a:r>
            <a:endParaRPr lang="en-GB" sz="1700" dirty="0"/>
          </a:p>
          <a:p>
            <a:pPr marL="0" indent="0">
              <a:buNone/>
            </a:pPr>
            <a:endParaRPr lang="en-GB" sz="17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F414122-BB56-48D6-9BD0-4295155C31B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803926"/>
              </p:ext>
            </p:extLst>
          </p:nvPr>
        </p:nvGraphicFramePr>
        <p:xfrm>
          <a:off x="429768" y="1719072"/>
          <a:ext cx="6702552" cy="45171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9574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A7F0A-2FAA-444C-B194-766BBA55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GB" sz="3600" dirty="0"/>
              <a:t>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DB6A-036F-4369-9501-4E1D8E82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GB" sz="1700" dirty="0"/>
              <a:t># Causes of greenhouse gases : </a:t>
            </a:r>
          </a:p>
          <a:p>
            <a:r>
              <a:rPr lang="en-GB" sz="1700" dirty="0"/>
              <a:t>Highest production from traffic &amp; transport, energy sector, are both increased their  emissions by 24% and 11%</a:t>
            </a:r>
          </a:p>
          <a:p>
            <a:r>
              <a:rPr lang="en-GB" sz="1700" dirty="0"/>
              <a:t>Consumers decreased by 17.5%</a:t>
            </a:r>
          </a:p>
          <a:p>
            <a:pPr marL="0" indent="0">
              <a:buNone/>
            </a:pPr>
            <a:r>
              <a:rPr lang="en-GB" sz="1800" dirty="0"/>
              <a:t>→  Traffic and transport increased while it feels like bikes and electric cars are more popular ?</a:t>
            </a:r>
          </a:p>
          <a:p>
            <a:pPr marL="0" indent="0">
              <a:buNone/>
            </a:pPr>
            <a:r>
              <a:rPr lang="en-GB" sz="1600" dirty="0"/>
              <a:t>→ </a:t>
            </a:r>
            <a:r>
              <a:rPr lang="en-GB" sz="1700" dirty="0"/>
              <a:t>Even though population increased, they decreased their emissions</a:t>
            </a:r>
          </a:p>
          <a:p>
            <a:pPr marL="0" indent="0">
              <a:buNone/>
            </a:pPr>
            <a:endParaRPr lang="en-GB" sz="1700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1500CA4-F7C9-4E03-BDC4-BB185E29FC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2017239"/>
              </p:ext>
            </p:extLst>
          </p:nvPr>
        </p:nvGraphicFramePr>
        <p:xfrm>
          <a:off x="-517735" y="530492"/>
          <a:ext cx="8128000" cy="60125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341214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A7F0A-2FAA-444C-B194-766BBA55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GB" sz="3600"/>
              <a:t>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DB6A-036F-4369-9501-4E1D8E82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455097" cy="3959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700" dirty="0"/>
              <a:t># Production of energy sources: </a:t>
            </a:r>
          </a:p>
          <a:p>
            <a:r>
              <a:rPr lang="en-GB" sz="1700" dirty="0"/>
              <a:t>Large increase of renewable </a:t>
            </a:r>
            <a:r>
              <a:rPr lang="en-GB" sz="1700" dirty="0" err="1"/>
              <a:t>ressources</a:t>
            </a:r>
            <a:r>
              <a:rPr lang="en-GB" sz="1700" dirty="0"/>
              <a:t>. </a:t>
            </a:r>
          </a:p>
          <a:p>
            <a:pPr marL="0" indent="0">
              <a:buNone/>
            </a:pPr>
            <a:endParaRPr lang="en-GB" sz="1700" dirty="0"/>
          </a:p>
          <a:p>
            <a:pPr marL="0" indent="0">
              <a:buNone/>
            </a:pPr>
            <a:r>
              <a:rPr lang="en-GB" sz="1800" dirty="0"/>
              <a:t>→ </a:t>
            </a:r>
            <a:r>
              <a:rPr lang="en-GB" sz="1700" dirty="0"/>
              <a:t>Mainly because they are modern technologies who weren’t used or not registered at that time.</a:t>
            </a:r>
          </a:p>
          <a:p>
            <a:pPr marL="0" indent="0">
              <a:buNone/>
            </a:pPr>
            <a:endParaRPr lang="en-GB" sz="17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31CA711-2B0A-46C0-A554-181A599C4B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71758"/>
              </p:ext>
            </p:extLst>
          </p:nvPr>
        </p:nvGraphicFramePr>
        <p:xfrm>
          <a:off x="429767" y="1710746"/>
          <a:ext cx="6684267" cy="4719398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1612393">
                  <a:extLst>
                    <a:ext uri="{9D8B030D-6E8A-4147-A177-3AD203B41FA5}">
                      <a16:colId xmlns:a16="http://schemas.microsoft.com/office/drawing/2014/main" val="1870358020"/>
                    </a:ext>
                  </a:extLst>
                </a:gridCol>
                <a:gridCol w="1513840">
                  <a:extLst>
                    <a:ext uri="{9D8B030D-6E8A-4147-A177-3AD203B41FA5}">
                      <a16:colId xmlns:a16="http://schemas.microsoft.com/office/drawing/2014/main" val="905626306"/>
                    </a:ext>
                  </a:extLst>
                </a:gridCol>
                <a:gridCol w="568960">
                  <a:extLst>
                    <a:ext uri="{9D8B030D-6E8A-4147-A177-3AD203B41FA5}">
                      <a16:colId xmlns:a16="http://schemas.microsoft.com/office/drawing/2014/main" val="6567394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3454378073"/>
                    </a:ext>
                  </a:extLst>
                </a:gridCol>
                <a:gridCol w="926594">
                  <a:extLst>
                    <a:ext uri="{9D8B030D-6E8A-4147-A177-3AD203B41FA5}">
                      <a16:colId xmlns:a16="http://schemas.microsoft.com/office/drawing/2014/main" val="3317477189"/>
                    </a:ext>
                  </a:extLst>
                </a:gridCol>
              </a:tblGrid>
              <a:tr h="595574">
                <a:tc gridSpan="5">
                  <a:txBody>
                    <a:bodyPr/>
                    <a:lstStyle/>
                    <a:p>
                      <a:pPr algn="ctr"/>
                      <a:r>
                        <a:rPr lang="en-GB" dirty="0"/>
                        <a:t>Evolution of energy production per sector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2952183"/>
                  </a:ext>
                </a:extLst>
              </a:tr>
              <a:tr h="70406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Biofuels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+ 7920%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Electricity by coal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- 37%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1978344"/>
                  </a:ext>
                </a:extLst>
              </a:tr>
              <a:tr h="70406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Bio-Geo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+ 649%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Electricity by 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+ 94%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3410939"/>
                  </a:ext>
                </a:extLst>
              </a:tr>
              <a:tr h="100581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Hydro-electricity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- 22%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Electricity by oil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- 56%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9097476"/>
                  </a:ext>
                </a:extLst>
              </a:tr>
              <a:tr h="100581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Solar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+ 462490%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- 56%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082574"/>
                  </a:ext>
                </a:extLst>
              </a:tr>
              <a:tr h="70406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Wind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+ 18139%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GB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Nuclear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- 0.5%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557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99755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2468898-5A6E-4D55-85EC-308E785EE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A7F0A-2FAA-444C-B194-766BBA558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201400" cy="1106424"/>
          </a:xfrm>
        </p:spPr>
        <p:txBody>
          <a:bodyPr>
            <a:normAutofit/>
          </a:bodyPr>
          <a:lstStyle/>
          <a:p>
            <a:r>
              <a:rPr lang="en-GB" sz="3600" dirty="0"/>
              <a:t>Results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23A947-2D45-4208-AE2B-64948C87A3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9845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5BBB0F9-6A59-4D02-A9C7-A2D6516684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1" y="1721922"/>
            <a:ext cx="4218432" cy="4520560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5DB6A-036F-4369-9501-4E1D8E820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8752" y="2020824"/>
            <a:ext cx="3542048" cy="395935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1800" dirty="0"/>
              <a:t># Causes of greenhouse gases : </a:t>
            </a:r>
          </a:p>
          <a:p>
            <a:r>
              <a:rPr lang="en-GB" sz="1800" dirty="0"/>
              <a:t>In 1990, Renewable Energy represented only 0.25%</a:t>
            </a:r>
          </a:p>
          <a:p>
            <a:r>
              <a:rPr lang="en-GB" sz="1800" dirty="0"/>
              <a:t>In 2019, it’s up to 8.5%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dirty="0"/>
              <a:t>→ Despite the major increase, it is still little compared to the use of primary </a:t>
            </a:r>
            <a:r>
              <a:rPr lang="en-GB" sz="1800" dirty="0" err="1"/>
              <a:t>ressources</a:t>
            </a:r>
            <a:endParaRPr lang="en-GB" sz="1700"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113BA01-545D-4598-99E8-572191F831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4485973"/>
              </p:ext>
            </p:extLst>
          </p:nvPr>
        </p:nvGraphicFramePr>
        <p:xfrm>
          <a:off x="-131064" y="1438995"/>
          <a:ext cx="4218432" cy="34332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D58C034-48FC-4782-AAA3-7CEC9EA247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9984975"/>
              </p:ext>
            </p:extLst>
          </p:nvPr>
        </p:nvGraphicFramePr>
        <p:xfrm>
          <a:off x="2956444" y="2397769"/>
          <a:ext cx="4701656" cy="3844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42424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06460-CD5B-43CB-AA49-5EF2865C4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B0EDD-629A-4A38-8954-1C3D0DDF3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Industries and transport are the main source of CO2 emissions in the Netherlands.</a:t>
            </a:r>
          </a:p>
          <a:p>
            <a:r>
              <a:rPr lang="en-GB" dirty="0"/>
              <a:t>Despite the high number of bikes per habitant and electric cars, the emissions from traffic is still largely increasing.</a:t>
            </a:r>
          </a:p>
          <a:p>
            <a:r>
              <a:rPr lang="en-GB" dirty="0"/>
              <a:t>Inhabitants seems to react well to Climate Change, as their emissions decreased, along with their global use of primary energy sources. Even though the use of natural gas is still a majority here as it has almost double in the last 30 years.</a:t>
            </a:r>
          </a:p>
        </p:txBody>
      </p:sp>
    </p:spTree>
    <p:extLst>
      <p:ext uri="{BB962C8B-B14F-4D97-AF65-F5344CB8AC3E}">
        <p14:creationId xmlns:p14="http://schemas.microsoft.com/office/powerpoint/2010/main" val="11756342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8D844-8891-4449-BF8F-75A12AE96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1A69A5-C7B9-4C0E-98DF-13C01B85D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 reliable data about ‘Energy Efficiency’ </a:t>
            </a:r>
          </a:p>
          <a:p>
            <a:endParaRPr lang="en-GB" dirty="0"/>
          </a:p>
          <a:p>
            <a:r>
              <a:rPr lang="en-GB" dirty="0"/>
              <a:t>But since less energy has been produced from 1990 to date and the population has increased :</a:t>
            </a:r>
          </a:p>
          <a:p>
            <a:pPr marL="457200" lvl="1" indent="0">
              <a:buNone/>
            </a:pPr>
            <a:r>
              <a:rPr lang="en-GB" sz="2400" dirty="0"/>
              <a:t>→ We can deduct that the electric </a:t>
            </a:r>
            <a:r>
              <a:rPr lang="en-GB" dirty="0"/>
              <a:t>facilities and equipment are still more efficient (use of LED, modern equipment, personal use of renewable resources that can’t be monitored …)</a:t>
            </a:r>
          </a:p>
        </p:txBody>
      </p:sp>
    </p:spTree>
    <p:extLst>
      <p:ext uri="{BB962C8B-B14F-4D97-AF65-F5344CB8AC3E}">
        <p14:creationId xmlns:p14="http://schemas.microsoft.com/office/powerpoint/2010/main" val="2335796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99B0-70B7-414D-B231-9D4FF7F14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5B7C-D2D7-4A51-B15E-567C08586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NL is not complying with its own goals for 2020 : </a:t>
            </a:r>
          </a:p>
          <a:p>
            <a:pPr lvl="2"/>
            <a:r>
              <a:rPr lang="en-GB" dirty="0"/>
              <a:t>Despite the increase of renewable resources, it yet hasn’t reach its national goal of 14%</a:t>
            </a:r>
          </a:p>
          <a:p>
            <a:pPr lvl="2"/>
            <a:r>
              <a:rPr lang="en-GB" dirty="0"/>
              <a:t>The emissions of CO2 has largely increased during the beginning of 21</a:t>
            </a:r>
            <a:r>
              <a:rPr lang="en-GB" baseline="30000" dirty="0"/>
              <a:t>st</a:t>
            </a:r>
            <a:r>
              <a:rPr lang="en-GB" dirty="0"/>
              <a:t> century and NL is slowly recovering from it as it has lowered of nearly 10% from the peak emission of 2010.</a:t>
            </a:r>
          </a:p>
          <a:p>
            <a:r>
              <a:rPr lang="en-GB" dirty="0"/>
              <a:t>Though, NL is on the ‘right’ path to reach its future goals. </a:t>
            </a:r>
          </a:p>
          <a:p>
            <a:r>
              <a:rPr lang="en-GB" dirty="0"/>
              <a:t>Legally obliged to respect its agreement.</a:t>
            </a:r>
          </a:p>
        </p:txBody>
      </p:sp>
    </p:spTree>
    <p:extLst>
      <p:ext uri="{BB962C8B-B14F-4D97-AF65-F5344CB8AC3E}">
        <p14:creationId xmlns:p14="http://schemas.microsoft.com/office/powerpoint/2010/main" val="2241649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5666830-9A19-4E01-8505-D6C7F9AC5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Light bulb on green grass">
            <a:extLst>
              <a:ext uri="{FF2B5EF4-FFF2-40B4-BE49-F238E27FC236}">
                <a16:creationId xmlns:a16="http://schemas.microsoft.com/office/drawing/2014/main" id="{D42078F4-9D0E-47A0-BB28-4C56D3B4C31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3" r="16563" b="-1"/>
          <a:stretch/>
        </p:blipFill>
        <p:spPr>
          <a:xfrm>
            <a:off x="4110127" y="10"/>
            <a:ext cx="8081873" cy="6857990"/>
          </a:xfrm>
          <a:custGeom>
            <a:avLst/>
            <a:gdLst/>
            <a:ahLst/>
            <a:cxnLst/>
            <a:rect l="l" t="t" r="r" b="b"/>
            <a:pathLst>
              <a:path w="8081873" h="6858000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</p:spPr>
      </p:pic>
      <p:sp useBgFill="1">
        <p:nvSpPr>
          <p:cNvPr id="33" name="Freeform: Shape 32">
            <a:extLst>
              <a:ext uri="{FF2B5EF4-FFF2-40B4-BE49-F238E27FC236}">
                <a16:creationId xmlns:a16="http://schemas.microsoft.com/office/drawing/2014/main" id="{AE9FC877-7FB6-4D22-9988-35420644E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5" name="Freeform: Shape 34">
            <a:extLst>
              <a:ext uri="{FF2B5EF4-FFF2-40B4-BE49-F238E27FC236}">
                <a16:creationId xmlns:a16="http://schemas.microsoft.com/office/drawing/2014/main" id="{E41809D1-F12E-46BB-B804-5F209D325E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B45ED-FC67-4C31-AE28-00BBDA230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en-GB" sz="4800" dirty="0"/>
              <a:t>Thanks </a:t>
            </a:r>
            <a:br>
              <a:rPr lang="en-GB" sz="4800" dirty="0"/>
            </a:br>
            <a:r>
              <a:rPr lang="en-GB" sz="4800" dirty="0"/>
              <a:t>for your attention !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BFB6D1-6F49-4D62-9EE0-BE79B987D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872922"/>
            <a:ext cx="3933306" cy="1208141"/>
          </a:xfrm>
        </p:spPr>
        <p:txBody>
          <a:bodyPr>
            <a:normAutofit/>
          </a:bodyPr>
          <a:lstStyle/>
          <a:p>
            <a:r>
              <a:rPr lang="en-GB" sz="2000" dirty="0"/>
              <a:t>Q/A ?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255185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LightSeed_2SEEDS">
      <a:dk1>
        <a:srgbClr val="000000"/>
      </a:dk1>
      <a:lt1>
        <a:srgbClr val="FFFFFF"/>
      </a:lt1>
      <a:dk2>
        <a:srgbClr val="3A3620"/>
      </a:dk2>
      <a:lt2>
        <a:srgbClr val="E2E5E8"/>
      </a:lt2>
      <a:accent1>
        <a:srgbClr val="B89D7B"/>
      </a:accent1>
      <a:accent2>
        <a:srgbClr val="C39790"/>
      </a:accent2>
      <a:accent3>
        <a:srgbClr val="A4A37C"/>
      </a:accent3>
      <a:accent4>
        <a:srgbClr val="76ACA3"/>
      </a:accent4>
      <a:accent5>
        <a:srgbClr val="7BA9B8"/>
      </a:accent5>
      <a:accent6>
        <a:srgbClr val="7F92BA"/>
      </a:accent6>
      <a:hlink>
        <a:srgbClr val="6383AB"/>
      </a:hlink>
      <a:folHlink>
        <a:srgbClr val="7F7F7F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690</Words>
  <Application>Microsoft Office PowerPoint</Application>
  <PresentationFormat>Widescreen</PresentationFormat>
  <Paragraphs>100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Avenir Next LT Pro</vt:lpstr>
      <vt:lpstr>Calibri</vt:lpstr>
      <vt:lpstr>Century Gothic</vt:lpstr>
      <vt:lpstr>Courier New</vt:lpstr>
      <vt:lpstr>Wingdings</vt:lpstr>
      <vt:lpstr>AccentBoxVTI</vt:lpstr>
      <vt:lpstr>THE  AMSTERDAM  PROJECT</vt:lpstr>
      <vt:lpstr>Are The Netherlands  a model with the  compliance to the  2015 Paris Agreement ?</vt:lpstr>
      <vt:lpstr>PowerPoint Presentation</vt:lpstr>
      <vt:lpstr>2015 Paris Agreement</vt:lpstr>
      <vt:lpstr>Dutch &amp; European Commitments</vt:lpstr>
      <vt:lpstr>Workflow</vt:lpstr>
      <vt:lpstr>Results</vt:lpstr>
      <vt:lpstr>Results</vt:lpstr>
      <vt:lpstr>Results</vt:lpstr>
      <vt:lpstr>Results</vt:lpstr>
      <vt:lpstr>Insights</vt:lpstr>
      <vt:lpstr>Improvements</vt:lpstr>
      <vt:lpstr>Conclusion</vt:lpstr>
      <vt:lpstr>Thanks  for your attention 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 AMSTERDAM  PROJECT</dc:title>
  <dc:creator>Sarah Busson</dc:creator>
  <cp:lastModifiedBy>Sarah Busson</cp:lastModifiedBy>
  <cp:revision>13</cp:revision>
  <dcterms:created xsi:type="dcterms:W3CDTF">2020-08-14T05:44:46Z</dcterms:created>
  <dcterms:modified xsi:type="dcterms:W3CDTF">2020-08-14T11:37:44Z</dcterms:modified>
</cp:coreProperties>
</file>